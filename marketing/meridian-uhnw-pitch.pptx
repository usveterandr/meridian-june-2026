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4506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44506B"/>
                </a:solidFill>
                <a:latin typeface="Arial"/>
              </a:rPr>
              <a:t>DR luxury market at 9%/yr (midpoint)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Luxury segment growth (indexed)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109</c:v>
                </c:pt>
                <c:pt idx="2">
                  <c:v>119</c:v>
                </c:pt>
                <c:pt idx="3">
                  <c:v>130</c:v>
                </c:pt>
                <c:pt idx="4">
                  <c:v>141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8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E R I D I A 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Private Gateway to Dominican Republic Luxury Real Estate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7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investors and family offices allocating to the Caribbean's leading market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86200" y="3703320"/>
            <a:ext cx="13716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7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&amp; Confidential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Caribbean's #1 Investment Market, Quantified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E8EDF6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4630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$4.8B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direct investment into DR real estate (2025)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51760" y="123444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E8EDF6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1760" y="14630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88920" y="23317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annual growth of the DR luxury segment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E8EDF6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4630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7%+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937760" y="23317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rental yields nationally; 8–10% in prime zones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49440" y="123444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E8EDF6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0" y="14630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086600" y="23317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Tourist arrivals projected 2026, +6% YoY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8862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investors lead FDI inflows (~33%), followed by Spain (~14%). 42 new direct flights and a $1.5B Punta Cana cruise port open in 2026.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Chambers Real Estate 2026 (DR); TheLatinvestor; Perez Real Estate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DR Wins for $100M+ Portfolios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502920"/>
          </a:xfrm>
          <a:prstGeom prst="ellipse">
            <a:avLst/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268730"/>
            <a:ext cx="251460" cy="2514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088136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years, zero property tax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206240" y="103327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CONFOTUR (Law 158-01): 15-yr income &amp; property tax (IPI) exemption plus waived 3% transfer tax on approved projects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075688"/>
            <a:ext cx="502920" cy="502920"/>
          </a:xfrm>
          <a:prstGeom prst="ellipse">
            <a:avLst/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2201418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020824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foreign ownership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206240" y="19659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property rights to citizens; Law 16-95 guarantees capital &amp; profit repatriation in convertible currency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3008376"/>
            <a:ext cx="502920" cy="502920"/>
          </a:xfrm>
          <a:prstGeom prst="ellipse">
            <a:avLst/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3134106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95351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Residency fast-track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206240" y="289864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US$200K property investment fast-tracks Dominican residency — lifestyle and tax-planning optionality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941064"/>
            <a:ext cx="502920" cy="502920"/>
          </a:xfrm>
          <a:prstGeom prst="ellipse">
            <a:avLst/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4066794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8862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Institutional-grade infrastructure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206240" y="3831336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Privately owned int'l airport (PUJ), 42 new routes, marina communities, and a $1.5B cruise port in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Company Your Capital Keeps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world's most sophisticated real estate families already anchor the DR.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E8EDF6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Campo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7,000-acre resort community owned by the Fanjul family — the 'Hamptons of the Caribbean'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E8EDF6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481328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 Cana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9202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Ultra-luxury marina &amp; golf city; waterfront inventory $600K–$3M+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E8EDF6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172968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Puntacana Resort &amp; Club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with Oscar de la Renta &amp; Julio Iglesias as early investors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E8EDF6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172968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Tropicalia (Cisneros)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36118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Seasons-branded sustainable luxury in Miches by the Cisneros Group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709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Caribbean-wide: 40+ branded-residence projects; branded product earns 20–35% premiums with 5–8% yields.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$5B Market Without a Trusted Gateway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6F7F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scattered across hundreds of small brokerages and unverified portals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37560" y="132588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6F7F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Opaque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20440" y="21031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risk is the #1 UHNW objection to emerging-market real estate — and no platform answers 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32588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6F7F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55080" y="21031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institutional-grade data, no bilingual digital experience, no discreet channel for serious capital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buyers exist. The assets exist. The trusted digital layer between them does not.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Meridian: Verified, Not Listed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24365E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353312"/>
            <a:ext cx="411480" cy="411480"/>
          </a:xfrm>
          <a:prstGeom prst="ellipse">
            <a:avLst/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456182"/>
            <a:ext cx="205740" cy="2057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0759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inventory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1874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Title-checked, broker-verified listings with tamper-proof media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24365E"/>
          </a:solidFill>
          <a:ln/>
        </p:spPr>
      </p:sp>
      <p:sp>
        <p:nvSpPr>
          <p:cNvPr id="9" name="Shape 6"/>
          <p:cNvSpPr/>
          <p:nvPr/>
        </p:nvSpPr>
        <p:spPr>
          <a:xfrm>
            <a:off x="3520440" y="1353312"/>
            <a:ext cx="411480" cy="411480"/>
          </a:xfrm>
          <a:prstGeom prst="ellipse">
            <a:avLst/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310" y="1456182"/>
            <a:ext cx="205740" cy="2057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23360" y="130759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by design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520440" y="1874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EN/ES experience for U.S., European and LatAm capital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7220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24365E"/>
          </a:solidFill>
          <a:ln/>
        </p:spPr>
      </p:sp>
      <p:sp>
        <p:nvSpPr>
          <p:cNvPr id="14" name="Shape 10"/>
          <p:cNvSpPr/>
          <p:nvPr/>
        </p:nvSpPr>
        <p:spPr>
          <a:xfrm>
            <a:off x="6355080" y="1353312"/>
            <a:ext cx="411480" cy="411480"/>
          </a:xfrm>
          <a:prstGeom prst="ellipse">
            <a:avLst/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1456182"/>
            <a:ext cx="205740" cy="2057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8000" y="130759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ecosystem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55080" y="1874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Buyers, investors, brokers, lawyers and notaries on one secure rail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02920" y="30175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24365E"/>
          </a:solidFill>
          <a:ln/>
        </p:spPr>
      </p:sp>
      <p:sp>
        <p:nvSpPr>
          <p:cNvPr id="19" name="Shape 14"/>
          <p:cNvSpPr/>
          <p:nvPr/>
        </p:nvSpPr>
        <p:spPr>
          <a:xfrm>
            <a:off x="685800" y="3182112"/>
            <a:ext cx="411480" cy="411480"/>
          </a:xfrm>
          <a:prstGeom prst="ellipse">
            <a:avLst/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" y="3284982"/>
            <a:ext cx="205740" cy="2057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313639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Bank-grade security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85800" y="37033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auth, hardened uploads, and audited access controls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337560" y="30175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24365E"/>
          </a:solidFill>
          <a:ln/>
        </p:spPr>
      </p:sp>
      <p:sp>
        <p:nvSpPr>
          <p:cNvPr id="24" name="Shape 18"/>
          <p:cNvSpPr/>
          <p:nvPr/>
        </p:nvSpPr>
        <p:spPr>
          <a:xfrm>
            <a:off x="3520440" y="3182112"/>
            <a:ext cx="411480" cy="411480"/>
          </a:xfrm>
          <a:prstGeom prst="ellipse">
            <a:avLst/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3310" y="3284982"/>
            <a:ext cx="205740" cy="2057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023360" y="313639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analytics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3520440" y="37033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Yield, appreciation and CONFOTUR-eligibility data per property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172200" y="30175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24365E"/>
          </a:solidFill>
          <a:ln/>
        </p:spPr>
      </p:sp>
      <p:sp>
        <p:nvSpPr>
          <p:cNvPr id="29" name="Shape 22"/>
          <p:cNvSpPr/>
          <p:nvPr/>
        </p:nvSpPr>
        <p:spPr>
          <a:xfrm>
            <a:off x="6355080" y="3182112"/>
            <a:ext cx="411480" cy="411480"/>
          </a:xfrm>
          <a:prstGeom prst="ellipse">
            <a:avLst/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950" y="3284982"/>
            <a:ext cx="205740" cy="2057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58000" y="313639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 room to closing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355080" y="37033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Messaging, requirements and professional network to complete cross-border deals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Clients: Built for the $100M+ Investor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360170"/>
            <a:ext cx="251460" cy="2514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188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Off-market access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840480" y="11430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Invitation-only inventory and NDA-gated data rooms per property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2130552"/>
            <a:ext cx="502920" cy="502920"/>
          </a:xfrm>
          <a:prstGeom prst="ellipse">
            <a:avLst/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2256282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0848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Dedicated advisor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840480" y="203911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bilingual point of contact from first call to notarized closing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026664"/>
            <a:ext cx="502920" cy="502920"/>
          </a:xfrm>
          <a:prstGeom prst="ellipse">
            <a:avLst/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3152394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98094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CONFOTUR desk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840480" y="2935224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screening, 15-yr tax-exemption structuring, residency guidance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922776"/>
            <a:ext cx="502920" cy="502920"/>
          </a:xfrm>
          <a:prstGeom prst="ellipse">
            <a:avLst/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4048506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87705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view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3840480" y="3831336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Multi-property dashboards with yield tracking — built for family offices, not house hunters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502920" y="4709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Discretion by default: anonymized inquiries, private favoriting, human support in EN/ES.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Platform With Multiple Engines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18872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892040" y="128016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074920" y="13533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074920" y="16642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→ Pro → Brokerage → Enterprise → Investor tiers (live today)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892040" y="233172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74920" y="2404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services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74920" y="27157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Clients concierge, verification and closing-support fees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92040" y="338328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74920" y="34564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revenue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74920" y="37673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co-marketing, broker syndication and data licensing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chart is illustrative, indexed from public 8–10% growth projections.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Founding Private Client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Invitation-only access to verified DR luxury inventory, the CONFOTUR desk and a dedicated bilingual advisor — before public launch of the tier.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1280160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24365E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554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Partner / Investor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4920" y="22860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families already committed to the DR and the Caribbean: a conversation about owning part of the digital gateway to the market you helped build.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value first. Capital conversations follow proof.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8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E R I D I A 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2423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Dominican Republic, intelligently.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isaactrinidadllc@gmail.com · Private Clients: by introduction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— DR Luxury Real Estate</dc:title>
  <dc:subject>PptxGenJS Presentation</dc:subject>
  <dc:creator>Meridian</dc:creator>
  <cp:lastModifiedBy>Meridian</cp:lastModifiedBy>
  <cp:revision>1</cp:revision>
  <dcterms:created xsi:type="dcterms:W3CDTF">2026-07-06T01:11:30Z</dcterms:created>
  <dcterms:modified xsi:type="dcterms:W3CDTF">2026-07-06T01:11:30Z</dcterms:modified>
</cp:coreProperties>
</file>